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go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7" y="1280160"/>
            <a:ext cx="4389120" cy="438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457200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 i="0">
                <a:solidFill>
                  <a:srgbClr val="FBF6EC"/>
                </a:solidFill>
                <a:latin typeface="Georgia"/>
              </a:rPr>
              <a:t>Cu un pas </a:t>
            </a:r>
            <a:r>
              <a:rPr sz="3000" b="0" i="1">
                <a:solidFill>
                  <a:srgbClr val="9CC4E4"/>
                </a:solidFill>
                <a:latin typeface="Georgia"/>
              </a:rPr>
              <a:t>înaintea ceții.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440680"/>
            <a:ext cx="85313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CFC6B4"/>
                </a:solidFill>
                <a:latin typeface="Hanken Grotesk"/>
              </a:rPr>
              <a:t>Copilotul calm pentru perturbările de zbor — pitch de business</a:t>
            </a:r>
          </a:p>
        </p:txBody>
      </p:sp>
      <p:pic>
        <p:nvPicPr>
          <p:cNvPr id="5" name="Picture 4" descr="fogora-mark-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843A"/>
                </a:solidFill>
                <a:latin typeface="Hanken Grotesk"/>
              </a:rP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2B2218"/>
                </a:solidFill>
                <a:latin typeface="Georgia"/>
              </a:rPr>
              <a:t>Ceața oprește zborurile — și nimeni nu te avertizează din timp.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9875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Aeroporturile regionale (ex. Iași / LRIA) au capacitate redusă de aterizare pe ceață (ILS CAT I, RVR 550 m).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Pasagerul află că zborul e anulat la aeroport, prea târziu ca să reacționeze.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Rezultă deviere, nopți pierdute, costuri și stres — fără un plan B la îndemână.</a:t>
            </a:r>
          </a:p>
        </p:txBody>
      </p:sp>
      <p:pic>
        <p:nvPicPr>
          <p:cNvPr id="5" name="Picture 4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A8843A"/>
                </a:solidFill>
                <a:latin typeface="Hanken Grotesk"/>
              </a:rPr>
              <a:t>FOGORA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7C715C"/>
                </a:solidFill>
                <a:latin typeface="Hanken Grotesk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4CE92"/>
                </a:solidFill>
                <a:latin typeface="Hanken Grotesk"/>
              </a:rPr>
              <a:t>SOLUȚIA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FBF6EC"/>
                </a:solidFill>
                <a:latin typeface="Georgia"/>
              </a:rPr>
              <a:t>Fogora prezice ceața cu 3–5 ore înainte și îți dă un plan.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108960"/>
            <a:ext cx="3361944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Prezice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Model ML pe date METAR — riscul de ceață pe ore, per aeroport.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3504" y="3108960"/>
            <a:ext cx="3361944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Alertează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Notificare proactivă pe WhatsApp / SMS / push, doar la risc ridicat.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9768" y="3108960"/>
            <a:ext cx="3361944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Rerutează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Alternative reale — tren, autocar, alt zbor, reroute prin aeroport vecin.</a:t>
            </a:r>
          </a:p>
        </p:txBody>
      </p:sp>
      <p:pic>
        <p:nvPicPr>
          <p:cNvPr id="7" name="Picture 6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843A"/>
                </a:solidFill>
                <a:latin typeface="Hanken Grotesk"/>
              </a:rPr>
              <a:t>PRODUSUL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2B2218"/>
                </a:solidFill>
                <a:latin typeface="Georgia"/>
              </a:rPr>
              <a:t>O aplicație calmă, telefon-first.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108960"/>
            <a:ext cx="2452878" cy="2286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Verifică un zbor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Status + risc în timp real, fără cont. Telefon doar pentru alerte.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4438" y="3108960"/>
            <a:ext cx="2452878" cy="2286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Detalii de zbor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% risc de anulare, gabarit meteo, terminal &amp; itinerariu.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3108960"/>
            <a:ext cx="2452878" cy="2286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Alternative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Sortabile după timp/preț, linkuri directe de rezervare.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8834" y="3108960"/>
            <a:ext cx="2452878" cy="2286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Drepturi &amp; cazare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Compensație EU261 (AirHelp), hoteluri lângă aeroport.</a:t>
            </a:r>
          </a:p>
        </p:txBody>
      </p:sp>
      <p:pic>
        <p:nvPicPr>
          <p:cNvPr id="8" name="Picture 7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A8843A"/>
                </a:solidFill>
                <a:latin typeface="Hanken Grotesk"/>
              </a:rPr>
              <a:t>FOGORA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7C715C"/>
                </a:solidFill>
                <a:latin typeface="Hanken Grotesk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4CE92"/>
                </a:solidFill>
                <a:latin typeface="Hanken Grotesk"/>
              </a:rPr>
              <a:t>PIAȚA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FBF6EC"/>
                </a:solidFill>
                <a:latin typeface="Georgia"/>
              </a:rPr>
              <a:t>Doi clienți, un singur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108960"/>
            <a:ext cx="5180076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B2C — pasageri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Milioane de pasageri pe aeroporturi regionale expuse la ceață.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1636" y="3108960"/>
            <a:ext cx="5180076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B2B — companii &amp; aeroporturi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Predicția de ceață prin API: tablou de risc per zbor, prognoză per aeroport.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CFC6B4"/>
                </a:solidFill>
                <a:latin typeface="Hanken Grotesk"/>
              </a:rPr>
              <a:t>Aceeași infrastructură de predicție alimentează aplicația și API-ul comercial.</a:t>
            </a:r>
          </a:p>
        </p:txBody>
      </p:sp>
      <p:pic>
        <p:nvPicPr>
          <p:cNvPr id="7" name="Picture 6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843A"/>
                </a:solidFill>
                <a:latin typeface="Hanken Grotesk"/>
              </a:rPr>
              <a:t>MODEL DE VENITURI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2B2218"/>
                </a:solidFill>
                <a:latin typeface="Georgia"/>
              </a:rPr>
              <a:t>Trei fluxuri.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108960"/>
            <a:ext cx="3361944" cy="21945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Freemium B2C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Gratuit la verificare; abonament pentru alerte premium, multi-zbor.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3504" y="3108960"/>
            <a:ext cx="3361944" cy="21945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API B2B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Plan pe chei API + cote pentru companii &amp; aeroporturi.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9768" y="3108960"/>
            <a:ext cx="3361944" cy="21945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Afiliere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Comision din rezervări — hoteluri, AirHelp, transport alternativ.</a:t>
            </a:r>
          </a:p>
        </p:txBody>
      </p:sp>
      <p:pic>
        <p:nvPicPr>
          <p:cNvPr id="7" name="Picture 6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A8843A"/>
                </a:solidFill>
                <a:latin typeface="Hanken Grotesk"/>
              </a:rPr>
              <a:t>FOGORA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7C715C"/>
                </a:solidFill>
                <a:latin typeface="Hanken Grotesk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4CE92"/>
                </a:solidFill>
                <a:latin typeface="Hanken Grotesk"/>
              </a:rPr>
              <a:t>DE CE FOGORA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FBF6EC"/>
                </a:solidFill>
                <a:latin typeface="Georgia"/>
              </a:rPr>
              <a:t>Proactiv, nu reactiv.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9875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FBF6EC"/>
                </a:solidFill>
                <a:latin typeface="Hanken Grotesk"/>
              </a:rPr>
              <a:t>Predicție, nu raportare — te anunțăm înainte, nu după anulare.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FBF6EC"/>
                </a:solidFill>
                <a:latin typeface="Hanken Grotesk"/>
              </a:rPr>
              <a:t>Risc real de aterizare — ponderăm ceața cu capacitatea aeroportului (ILS CAT I → III).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FBF6EC"/>
                </a:solidFill>
                <a:latin typeface="Hanken Grotesk"/>
              </a:rPr>
              <a:t>Alternative care chiar funcționează — orar real + tren/autocar + reroute, scorate.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FBF6EC"/>
                </a:solidFill>
                <a:latin typeface="Hanken Grotesk"/>
              </a:rPr>
              <a:t>Securitate la nivel de operator — Orange CAMARA (SIM-swap, KYC) + Twilio OTP.</a:t>
            </a:r>
          </a:p>
        </p:txBody>
      </p:sp>
      <p:pic>
        <p:nvPicPr>
          <p:cNvPr id="5" name="Picture 4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843A"/>
                </a:solidFill>
                <a:latin typeface="Hanken Grotesk"/>
              </a:rPr>
              <a:t>TRACȚIUNE /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2B2218"/>
                </a:solidFill>
                <a:latin typeface="Georgia"/>
              </a:rPr>
              <a:t>Funcțional, azi.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330098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0" i="0">
                <a:solidFill>
                  <a:srgbClr val="A8843A"/>
                </a:solidFill>
                <a:latin typeface="Georgia"/>
              </a:rPr>
              <a:t>0.99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7C715C"/>
                </a:solidFill>
                <a:latin typeface="Hanken Grotesk"/>
              </a:rPr>
              <a:t>ROC-AUC al modelului de ceață (~2 ani METAR LRIA)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3984" y="3017520"/>
            <a:ext cx="330098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0" i="0">
                <a:solidFill>
                  <a:srgbClr val="A8843A"/>
                </a:solidFill>
                <a:latin typeface="Georgia"/>
              </a:rPr>
              <a:t>3–5h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7C715C"/>
                </a:solidFill>
                <a:latin typeface="Hanken Grotesk"/>
              </a:rPr>
              <a:t>avans al predicției înainte de plecare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0728" y="3017520"/>
            <a:ext cx="330098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0" i="0">
                <a:solidFill>
                  <a:srgbClr val="A8843A"/>
                </a:solidFill>
                <a:latin typeface="Georgia"/>
              </a:rPr>
              <a:t>4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7C715C"/>
                </a:solidFill>
                <a:latin typeface="Hanken Grotesk"/>
              </a:rPr>
              <a:t>API-uri Orange CAMARA + Twilio + Web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7C715C"/>
                </a:solidFill>
                <a:latin typeface="Hanken Grotesk"/>
              </a:rPr>
              <a:t>Aplicație PWA instalabilă + backend live + API public — construite și testate.</a:t>
            </a:r>
          </a:p>
        </p:txBody>
      </p:sp>
      <p:pic>
        <p:nvPicPr>
          <p:cNvPr id="8" name="Picture 7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A8843A"/>
                </a:solidFill>
                <a:latin typeface="Hanken Grotesk"/>
              </a:rPr>
              <a:t>FOGORA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7C715C"/>
                </a:solidFill>
                <a:latin typeface="Hanken Grotesk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4CE92"/>
                </a:solidFill>
                <a:latin typeface="Hanken Grotesk"/>
              </a:rPr>
              <a:t>VIZIUNE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FBF6EC"/>
                </a:solidFill>
                <a:latin typeface="Georgia"/>
              </a:rPr>
              <a:t>De la Iași, la fiecare aeroport regional cu ceață din Europa.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9875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FBF6EC"/>
                </a:solidFill>
                <a:latin typeface="Hanken Grotesk"/>
              </a:rPr>
              <a:t>Modelul generalizează — features meteo generice, aplicabile oricărui aeroport.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FBF6EC"/>
                </a:solidFill>
                <a:latin typeface="Hanken Grotesk"/>
              </a:rPr>
              <a:t>Parteneriate cu aeroporturi &amp; companii pentru date live de zbor.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FBF6EC"/>
                </a:solidFill>
                <a:latin typeface="Hanken Grotesk"/>
              </a:rPr>
              <a:t>Extindere: status live, capacitate per aeronavă, multi-limbă, push nativ.</a:t>
            </a:r>
          </a:p>
        </p:txBody>
      </p:sp>
      <p:pic>
        <p:nvPicPr>
          <p:cNvPr id="5" name="Picture 4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2024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3832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0" i="0">
                <a:solidFill>
                  <a:srgbClr val="FBF6EC"/>
                </a:solidFill>
                <a:latin typeface="Georgia"/>
              </a:rPr>
              <a:t>Fogora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9445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E4CE92"/>
                </a:solidFill>
                <a:latin typeface="Georgia"/>
              </a:rPr>
              <a:t>Cu un pas înaintea ceții.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937760"/>
            <a:ext cx="85313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CFC6B4"/>
                </a:solidFill>
                <a:latin typeface="Hanken Grotesk"/>
              </a:rPr>
              <a:t>Hai să ducem calmul la fiecare poartă de îmbarcare.</a:t>
            </a:r>
          </a:p>
        </p:txBody>
      </p:sp>
      <p:pic>
        <p:nvPicPr>
          <p:cNvPr id="6" name="Picture 5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