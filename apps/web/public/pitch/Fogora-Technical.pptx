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go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7" y="1280160"/>
            <a:ext cx="4389120" cy="4389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57200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 i="0">
                <a:solidFill>
                  <a:srgbClr val="FBF6EC"/>
                </a:solidFill>
                <a:latin typeface="Georgia"/>
              </a:rPr>
              <a:t>Arhitectură &amp; </a:t>
            </a:r>
            <a:r>
              <a:rPr sz="3000" b="0" i="1">
                <a:solidFill>
                  <a:srgbClr val="9CC4E4"/>
                </a:solidFill>
                <a:latin typeface="Georgia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40680"/>
            <a:ext cx="85313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FC6B4"/>
                </a:solidFill>
                <a:latin typeface="Hanken Grotesk"/>
              </a:rPr>
              <a:t>Cum prezicem ceața și transformăm riscul în acțiune — pitch tehnic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ARHITECTURA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Monorepo, stack modern, totul async.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2452878" cy="21031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Next.js 14 PWA, TanStack Query, Tailwind, push instalabil.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4438" y="3108960"/>
            <a:ext cx="2452878" cy="21031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Backend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FastAPI + Pydantic v2, SQLAlchemy 2.0 async, slowapi.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3108960"/>
            <a:ext cx="2452878" cy="21031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ML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XGBoost + scikit-learn, Open-Meteo live, fallback pe reguli.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8834" y="3108960"/>
            <a:ext cx="2452878" cy="21031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A8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2B2218"/>
                </a:solidFill>
                <a:latin typeface="Hanken Grotesk"/>
              </a:rPr>
              <a:t>Date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7C715C"/>
                </a:solidFill>
                <a:latin typeface="Hanken Grotesk"/>
              </a:rPr>
              <a:t>Supabase Postgres (RLS), Alembic, Twilio &amp; Orange.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MODELUL DE CEAȚĂ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XGBoost pe ~2 ani de METAR la Iași.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E4CE92"/>
                </a:solidFill>
                <a:latin typeface="Georgia"/>
              </a:rPr>
              <a:t>0.99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CFC6B4"/>
                </a:solidFill>
                <a:latin typeface="Hanken Grotesk"/>
              </a:rPr>
              <a:t>ROC-AUC (test ținut deoparte)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3984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E4CE92"/>
                </a:solidFill>
                <a:latin typeface="Georgia"/>
              </a:rPr>
              <a:t>6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CFC6B4"/>
                </a:solidFill>
                <a:latin typeface="Hanken Grotesk"/>
              </a:rPr>
              <a:t>features: temp, dewpoint depression, vânt, umiditate, oră, lună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3017520"/>
            <a:ext cx="330098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0" i="0">
                <a:solidFill>
                  <a:srgbClr val="E4CE92"/>
                </a:solidFill>
                <a:latin typeface="Georgia"/>
              </a:rPr>
              <a:t>84%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CFC6B4"/>
                </a:solidFill>
                <a:latin typeface="Hanken Grotesk"/>
              </a:rPr>
              <a:t>recall pe evenimentele de ceață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CFC6B4"/>
                </a:solidFill>
                <a:latin typeface="Hanken Grotesk"/>
              </a:rPr>
              <a:t>Praguri: low &lt;0.25 · moderate 0.25–0.55 · high 0.55–0.90 · critical ≥0.90. Fallback pe reguli.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PIPELINE DE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De la observație, la predicție pe 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Scrape METAR → feature engineering → train XGBoost → serve (.pkl).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Live: Open-Meteo per lat/lon → model → timeline + ferestre de ceață + vârf.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Replay: rejucăm zile reale cu ceață pentru a demonstra detecția.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Modelul se încarcă o singură dată la pornire, niciodată per-request.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STRATURI DE RISC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Ceața nu e totuna cu perturbarea.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2452878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Ceață la origine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Probabilitatea de ceață la plecare (modelul, pe prognoza live).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4438" y="3108960"/>
            <a:ext cx="2452878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Aterizare destinație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Ceața × capacitatea aeroportului (ILS CAT I…IIIb, autoland).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3108960"/>
            <a:ext cx="2452878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Vreme rea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Al doilea model: furtuni/precipitații/vânt din METAR, calibrat.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8834" y="3108960"/>
            <a:ext cx="2452878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Risc de anulare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Derivat din toate → % afișat + prag de alertă.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MOTORUL DE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Scorate, reale, acționabile.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Scor = 0.40·timp + 0.30·fiabilitate + 0.20·cost + 0.10·conveniență.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Zboruri alternative din orarul real (aceeași rută, mai târziu).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Tren + autocar pe perechile de orașe (CFR, FlixBus).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Reroute prin aeroport vecin: autocar + zbor, cu pașii și linkurile fiecărui segment.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INTEGRĂRI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Operator-grade.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Twilio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OTP Verify (login pe telefon) + WhatsApp/SMS pentru alerte.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3504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Orange CAMARA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SIM-Swap &amp; KYC, Device Reachability, Location (geofencing).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9768" y="3108960"/>
            <a:ext cx="3361944" cy="219456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Web Push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Notificări native în PWA (VAPID), deep-link la zbor.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CFC6B4"/>
                </a:solidFill>
                <a:latin typeface="Hanken Grotesk"/>
              </a:rPr>
              <a:t>Alertele pleacă doar la risc ridicat; canalul e ales după cum e dispozitivul accesibil.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A8843A"/>
                </a:solidFill>
                <a:latin typeface="Hanken Grotesk"/>
              </a:rPr>
              <a:t>API PUBLIC &amp;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2B2218"/>
                </a:solidFill>
                <a:latin typeface="Georgia"/>
              </a:rPr>
              <a:t>Același model, deschis dezvoltatorilor.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9875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GET /api/public/v1/predict — probabilitatea de ceață din features meteo.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GET /api/public/v1/forecast?airport=IAS — timeline live pe ore.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GET /api/public/v1/airports/{iata}/risc — tablou per-zbor (B2B).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C8A24E"/>
                </a:solidFill>
                <a:latin typeface="Hanken Grotesk"/>
              </a:rPr>
              <a:t>•  </a:t>
            </a:r>
            <a:r>
              <a:rPr sz="1800" b="0" i="0">
                <a:solidFill>
                  <a:srgbClr val="2B2218"/>
                </a:solidFill>
                <a:latin typeface="Hanken Grotesk"/>
              </a:rPr>
              <a:t>Auth prin X-API-Key, rate-limit, docs OpenAPI (/docs) + /developers.</a:t>
            </a:r>
          </a:p>
        </p:txBody>
      </p:sp>
      <p:pic>
        <p:nvPicPr>
          <p:cNvPr id="5" name="Picture 4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A8843A"/>
                </a:solidFill>
                <a:latin typeface="Hanken Grotesk"/>
              </a:rPr>
              <a:t>FOGORA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7C715C"/>
                </a:solidFill>
                <a:latin typeface="Hanken Grotesk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4CE92"/>
                </a:solidFill>
                <a:latin typeface="Hanken Grotesk"/>
              </a:rPr>
              <a:t>INFRA &amp; SECURITATE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0" i="0">
                <a:solidFill>
                  <a:srgbClr val="FBF6EC"/>
                </a:solidFill>
                <a:latin typeface="Georgia"/>
              </a:rPr>
              <a:t>Pregătit de producție.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08960"/>
            <a:ext cx="2452878" cy="228600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Hosting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Frontend pe Vercel, API pe Railway (Docker), Postgres pe Supabase.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4438" y="3108960"/>
            <a:ext cx="2452878" cy="228600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Securitate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JWT + bcrypt, RLS pe PII, rate limiting, boot refuzat cu secret slab.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3108960"/>
            <a:ext cx="2452878" cy="228600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Calitate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18 teste backend, typecheck strict, migrări Alembic reversibile.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8834" y="3108960"/>
            <a:ext cx="2452878" cy="2286000"/>
          </a:xfrm>
          <a:prstGeom prst="roundRect">
            <a:avLst/>
          </a:prstGeom>
          <a:solidFill>
            <a:srgbClr val="3A2E20"/>
          </a:solidFill>
          <a:ln w="9525">
            <a:solidFill>
              <a:srgbClr val="C8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700" b="1" i="0">
                <a:solidFill>
                  <a:srgbClr val="FBF6EC"/>
                </a:solidFill>
                <a:latin typeface="Hanken Grotesk"/>
              </a:rPr>
              <a:t>PWA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CFC6B4"/>
                </a:solidFill>
                <a:latin typeface="Hanken Grotesk"/>
              </a:rPr>
              <a:t>Instalabilă, service worker, layout desktop dedicat.</a:t>
            </a:r>
          </a:p>
        </p:txBody>
      </p:sp>
      <p:pic>
        <p:nvPicPr>
          <p:cNvPr id="8" name="Picture 7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9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2024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3832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0" i="0">
                <a:solidFill>
                  <a:srgbClr val="FBF6EC"/>
                </a:solidFill>
                <a:latin typeface="Georgia"/>
              </a:rPr>
              <a:t>Fogora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4CE92"/>
                </a:solidFill>
                <a:latin typeface="Georgia"/>
              </a:rPr>
              <a:t>Cu un pas înaintea ceții.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5313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FC6B4"/>
                </a:solidFill>
                <a:latin typeface="Hanken Grotesk"/>
              </a:rPr>
              <a:t>Status live · capacitate per aeronavă · multi-aeroport · chei API self-serve · i18n.</a:t>
            </a:r>
          </a:p>
        </p:txBody>
      </p:sp>
      <p:pic>
        <p:nvPicPr>
          <p:cNvPr id="6" name="Picture 5" descr="fogora-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0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3825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E4CE92"/>
                </a:solidFill>
                <a:latin typeface="Hanken Grotesk"/>
              </a:rPr>
              <a:t>FOGORA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825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C6B4"/>
                </a:solidFill>
                <a:latin typeface="Hanken Grotesk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